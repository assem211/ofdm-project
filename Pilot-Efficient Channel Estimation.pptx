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embeddedFontLs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Poppins" panose="00000500000000000000"/>
      <p:regular r:id="rId30"/>
      <p:boldItalic r:id="rId31"/>
    </p:embeddedFont>
    <p:embeddedFont>
      <p:font typeface="Lato" panose="020F0502020204030203"/>
      <p:regular r:id="rId32"/>
      <p:bold r:id="rId33"/>
      <p:italic r:id="rId34"/>
      <p:boldItalic r:id="rId35"/>
    </p:embeddedFont>
    <p:embeddedFont>
      <p:font typeface="Poppins SemiBold" panose="00000500000000000000"/>
      <p:regular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83ECA9-8173-4E56-B083-5961BCD981FD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2.fntdata"/><Relationship Id="rId36" Type="http://schemas.openxmlformats.org/officeDocument/2006/relationships/font" Target="fonts/font11.fntdata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7" name="Google Shape;287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486150" y="3747045"/>
            <a:ext cx="52197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00300" y="1548854"/>
            <a:ext cx="11191398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214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Pilot-Efficient Channel Estimation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00214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for OFDM Systems</a:t>
            </a:r>
            <a:endParaRPr lang="en-US" sz="4800" b="1" i="0" u="none" strike="noStrike" cap="none">
              <a:solidFill>
                <a:srgbClr val="00214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86150" y="4051845"/>
            <a:ext cx="5219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Prepared by: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Assem Ahmad, Omar Morsi, Yazan Dewikat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486150" y="4366170"/>
            <a:ext cx="5219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Instructor: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Dr. Jehad Hamamreh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486150" y="4680495"/>
            <a:ext cx="5219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Course: Data Communication and Networks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486150" y="4994820"/>
            <a:ext cx="5219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An-Najah National University</a:t>
            </a:r>
            <a:endParaRPr lang="en-US" sz="1650" b="1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5381625" y="2505075"/>
            <a:ext cx="1428750" cy="5715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95275" y="284797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Project Overview</a:t>
            </a:r>
            <a:endParaRPr lang="en-US" sz="60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18147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2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Abstract &amp; Core Concept</a:t>
            </a:r>
            <a:endParaRPr lang="en-US" sz="2400" b="1" i="0" u="none" strike="noStrike" cap="none">
              <a:solidFill>
                <a:srgbClr val="00D2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INTRODUCTION TO OFDM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177641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047750" y="1776412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Industry Standard: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Widely utilized in modern WiFi and 4G/5G systems.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047750" y="2643187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Resilience: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Efficiently handles multipath fading and inter-symbol interference.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047750" y="3509962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Performance: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Enables high data rates through parallel transmission.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047750" y="4376737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Core Challenge: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System reliability depends heavily on accurate Channel Estimation.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764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431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5099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37673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819400"/>
            <a:ext cx="52387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819400"/>
            <a:ext cx="52387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PROBLEM STATEMENT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904875" y="3200400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Channel Distortion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904875" y="3743325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Multipath fading and AWGN noise significantly distort the transmitted signal, leading to high error rates if not compensated.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715125" y="3200400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Efficiency Trade-off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715125" y="3743325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Accurate estimation requires pilot subcarriers. However, more pilots mean more overhead and lower data throughput. We need efficiency.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PROJECT OBJECTIVES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047750" y="253841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Comparative Analysis: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Evaluate LS and MMSE estimators in the frequency domain.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047750" y="309086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SNR Sensitivity: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Analyze how noise levels affect estimation accuracy.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047750" y="364331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Efficiency Study: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Investigate the impact of pilot spacing on spectral efficiency.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047750" y="419576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Quantifiable Metrics: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Use Mean Square Error (MSE) and Bit Error Rate (BER) for validation.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1047750" y="474821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Optimization: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Identify ideal conditions for high-speed wireless recovery.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5384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30908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36433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41957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474821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2450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73400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524351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175301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826251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477202" y="29527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OFDM SYSTEM PROCESSING FLOW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49530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666666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Standard end-to-end signal processing chain for simulation.</a:t>
            </a:r>
            <a:endParaRPr lang="en-US" sz="1650" b="0" i="1" u="none" strike="noStrike" cap="none">
              <a:solidFill>
                <a:srgbClr val="666666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1500" y="3505200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77641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CHANNEL MODEL: RAYLEIGH FADING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1871662"/>
            <a:ext cx="40957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381750" y="23479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Wireless Environment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858000" y="2890837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Multipath Paths: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Simulates signals bouncing off buildings and objects.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858000" y="3757612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Statistical Model: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Rayleigh fading represents non-line-of-sight communication.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6858000" y="4624387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Noise Addition: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AWGN is added to model thermal noise at the receiver.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8908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37576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462438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LEAST SQUARES (LS) ESTIMATOR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3190726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D2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LOW</a:t>
            </a:r>
            <a:endParaRPr lang="en-US" sz="9000" b="1" i="0" u="none" strike="noStrike" cap="none">
              <a:solidFill>
                <a:srgbClr val="00D2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4333726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36E7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COMPLEXITY</a:t>
            </a:r>
            <a:endParaRPr lang="en-US" sz="1650" b="1" i="0" u="none" strike="noStrike" cap="none">
              <a:solidFill>
                <a:srgbClr val="636E7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381750" y="2681138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Characteristics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81750" y="3224063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LS estimator minimizes the squared distance between the received and the estimated signal.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524625" y="4043213"/>
            <a:ext cx="50958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Formula: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381750" y="4043213"/>
            <a:ext cx="47625" cy="314325"/>
          </a:xfrm>
          <a:prstGeom prst="rect">
            <a:avLst/>
          </a:prstGeom>
          <a:solidFill>
            <a:srgbClr val="FF76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81750" y="452913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6303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Drawback: Highly sensitive to noise as it treats AWGN as part of the channel.</a:t>
            </a:r>
            <a:endParaRPr lang="en-US" sz="1650" b="0" i="0" u="none" strike="noStrike" cap="none">
              <a:solidFill>
                <a:srgbClr val="D6303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84" name="Google Shape;184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4357538"/>
            <a:ext cx="5238750" cy="171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MMSE ESTIMATOR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3190875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D2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HIGH</a:t>
            </a:r>
            <a:endParaRPr lang="en-US" sz="9000" b="1" i="0" u="none" strike="noStrike" cap="none">
              <a:solidFill>
                <a:srgbClr val="00D2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4333875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36E7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ACCURACY</a:t>
            </a:r>
            <a:endParaRPr lang="en-US" sz="1650" b="1" i="0" u="none" strike="noStrike" cap="none">
              <a:solidFill>
                <a:srgbClr val="636E7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381750" y="24526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Advanced Processing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381750" y="299561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MMSE utilizes channel statistics (Auto-correlation) to suppress noise effects during estimation.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524625" y="3814762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Optimization Goal: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Minimizes the Mean Square Error between the actual and estimated channel coefficients.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381750" y="3814762"/>
            <a:ext cx="47625" cy="9429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381750" y="475773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7AE6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Benefit: Significant performance gain in low SNR environments.</a:t>
            </a:r>
            <a:endParaRPr lang="en-US" sz="1650" b="0" i="0" u="none" strike="noStrike" cap="none">
              <a:solidFill>
                <a:srgbClr val="27AE6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COMPARATIVE MATRIX: LS VS MMSE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71500" y="2352675"/>
            <a:ext cx="11049000" cy="31337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05" name="Google Shape;205;p22"/>
          <p:cNvGraphicFramePr/>
          <p:nvPr/>
        </p:nvGraphicFramePr>
        <p:xfrm>
          <a:off x="571500" y="2352675"/>
          <a:ext cx="11049000" cy="3133750"/>
        </p:xfrm>
        <a:graphic>
          <a:graphicData uri="http://schemas.openxmlformats.org/drawingml/2006/table">
            <a:tbl>
              <a:tblPr firstRow="1" bandRow="1">
                <a:noFill/>
                <a:tableStyleId>{8583ECA9-8173-4E56-B083-5961BCD981FD}</a:tableStyleId>
              </a:tblPr>
              <a:tblGrid>
                <a:gridCol w="2811225"/>
                <a:gridCol w="3612050"/>
                <a:gridCol w="4625725"/>
              </a:tblGrid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Feature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LS Estimator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MMSE Estimator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Complexity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Low (Simple division)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High (Matrix Inversion)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Accuracy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Baseline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Superior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Required Info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Pilot signals only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SNR &amp; Channel Statistics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Noise Handling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Poor (Passes noise)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43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Excellent (Suppresses noise)</a:t>
                      </a:r>
                      <a:endParaRPr lang="en-US" sz="1500" b="0" i="0" u="none" strike="noStrike" cap="none">
                        <a:solidFill>
                          <a:srgbClr val="2D3436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22"/>
          <p:cNvSpPr/>
          <p:nvPr/>
        </p:nvSpPr>
        <p:spPr>
          <a:xfrm>
            <a:off x="571500" y="3614737"/>
            <a:ext cx="28112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382714" y="3614737"/>
            <a:ext cx="361205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994773" y="3614737"/>
            <a:ext cx="462572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71500" y="4233862"/>
            <a:ext cx="28112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382714" y="4233862"/>
            <a:ext cx="361205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6994773" y="4233862"/>
            <a:ext cx="462572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71500" y="4852987"/>
            <a:ext cx="28112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382714" y="4852987"/>
            <a:ext cx="361205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994773" y="4852987"/>
            <a:ext cx="462572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5472112"/>
            <a:ext cx="28112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382714" y="5472112"/>
            <a:ext cx="361205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994773" y="5472112"/>
            <a:ext cx="462572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/>
        </p:nvSpPr>
        <p:spPr>
          <a:xfrm>
            <a:off x="762000" y="947737"/>
            <a:ext cx="500062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MATLAB IMPLEMENTATION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71500" y="947737"/>
            <a:ext cx="76200" cy="120015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561975" y="2334577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Simulation Parameters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61975" y="288575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study uses a robust MATLAB script to simulate the entire OFDM chain. Parameters included: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96000" y="0"/>
            <a:ext cx="1323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047750" y="3700462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Modulation: QPSK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1047750" y="4252912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Number of Subcarriers: 64 to 256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1047750" y="4805362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Channel Type: Rayleigh (3-path)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1047750" y="5357812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Pilot Spacing: Configurable (1:4, 1:8, 1:16)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31" name="Google Shape;231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7004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2529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8053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35781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590204"/>
            <a:ext cx="5238750" cy="265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590204"/>
            <a:ext cx="5238750" cy="265866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PERFORMANCE METRICS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904875" y="3523654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MSE (Mean Square Error)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904875" y="4066579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Measures how close the estimated channel is to the true channel response.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6715125" y="3523654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BER (Bit Error Rate)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6715125" y="4066579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ultimate metric for communication reliability, measuring data bit errors after recovery.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47" name="Google Shape;247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04875" y="300930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4875" y="4695229"/>
            <a:ext cx="1516260" cy="22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15125" y="3009304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552575"/>
            <a:ext cx="11049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MSE PERFORMANCE ANALYSIS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571500" y="1552575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767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● LS Estimator</a:t>
            </a:r>
            <a:r>
              <a:rPr lang="en-US" sz="1200" b="0" i="0" u="none" strike="noStrike" cap="none">
                <a:solidFill>
                  <a:srgbClr val="2D3436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sz="1200" b="0" i="0" u="none" strike="noStrike" cap="none">
                <a:solidFill>
                  <a:srgbClr val="00D2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● MMSE Estimator</a:t>
            </a:r>
            <a:endParaRPr lang="en-US" sz="1200" b="0" i="0" u="none" strike="noStrike" cap="none">
              <a:solidFill>
                <a:srgbClr val="00D2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631507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77777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* Logarithmic scale visualization of Error Reduction.</a:t>
            </a:r>
            <a:endParaRPr lang="en-US" sz="1200" b="0" i="0" u="none" strike="noStrike" cap="none">
              <a:solidFill>
                <a:srgbClr val="777777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BER RESULTS VS SNR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571500" y="59055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MMSE provides several orders of magnitude improvement in data recovery.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371725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799" y="2371725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8099" y="2371725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IMPACT OF PILOT SPACING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794225" y="33718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Small Spacing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866775" y="39147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High estimation accuracy but reduced spectral efficiency due to overhead.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4572524" y="33718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Large Spacing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4645074" y="39147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Increased data rates but higher risk of aliasing and interpolation errors.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8350824" y="33718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Sweet Spot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8423374" y="3914775"/>
            <a:ext cx="290199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Finding the balance where pilots are efficient enough to recover the channel within coherence bandwidth.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82" name="Google Shape;282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962" y="271462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910262" y="271462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07599" y="2714625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KEY OBSERVATIONS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71500" y="2619375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D2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40%</a:t>
            </a:r>
            <a:endParaRPr lang="en-US" sz="9000" b="1" i="0" u="none" strike="noStrike" cap="none">
              <a:solidFill>
                <a:srgbClr val="00D2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571500" y="3762375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MSE Reduction</a:t>
            </a:r>
            <a:endParaRPr lang="en-US" sz="1650" b="1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571500" y="407670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MMSE vs LS at 10dB SNR</a:t>
            </a:r>
            <a:endParaRPr lang="en-US" sz="120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6858000" y="2619375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Noise Dominance: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LS struggles significantly at high noise (low SNR).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6858000" y="3486150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Stability: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MMSE is more stable across varying pilot densities.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6858000" y="4352925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Efficiency: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Pilot efficiency is maximized when the spacing matches channel coherence.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97" name="Google Shape;297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6193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348615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4352925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/>
          <p:nvPr/>
        </p:nvSpPr>
        <p:spPr>
          <a:xfrm>
            <a:off x="5381625" y="2419350"/>
            <a:ext cx="1428750" cy="5715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Conclusions</a:t>
            </a:r>
            <a:endParaRPr lang="en-US" sz="60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2286000" y="40957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D2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MMSE provides the necessary robustness for high-quality WiFi systems, while LS remains a viable candidate for low-power, simple IoT devices.</a:t>
            </a:r>
            <a:endParaRPr lang="en-US" sz="1650" b="0" i="0" u="none" strike="noStrike" cap="none">
              <a:solidFill>
                <a:srgbClr val="00D2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619375"/>
            <a:ext cx="523875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FUTURE RESEARCH DIRECTIONS</a:t>
            </a:r>
            <a:endParaRPr lang="en-US" sz="3150" b="0" i="0" u="none" strike="noStrike" cap="none">
              <a:solidFill>
                <a:srgbClr val="002147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1047750" y="2619375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Adaptive Pilot Spacing: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Changing pilot density based on real-time channel feedback.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1047750" y="3486150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AI &amp; ML Estimation: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Using neural networks for faster matrix computations in MMSE.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1047750" y="4352925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MIMO-OFDM: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Extending estimation models to multi-antenna systems.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6715125" y="3000375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B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Next Steps</a:t>
            </a:r>
            <a:endParaRPr lang="en-US" sz="2100" b="1" i="0" u="none" strike="noStrike" cap="none">
              <a:solidFill>
                <a:srgbClr val="007B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6715125" y="3543300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team plans to integrate 2D interpolation (Time-Frequency) to further improve tracking in highly mobile environments.</a:t>
            </a:r>
            <a:endParaRPr lang="en-US" sz="16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320" name="Google Shape;320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193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48615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352925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09750" y="4391025"/>
            <a:ext cx="85725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295275" y="571500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214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References &amp; Final Word</a:t>
            </a:r>
            <a:endParaRPr lang="en-US" sz="4500" b="1" i="0" u="none" strike="noStrike" cap="none">
              <a:solidFill>
                <a:srgbClr val="00214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1809750" y="46863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Thank you for your attention!</a:t>
            </a:r>
            <a:endParaRPr lang="en-US" sz="1800" b="1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1809750" y="5029200"/>
            <a:ext cx="85725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7B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Assem, Omar, &amp; Yazan | 2026</a:t>
            </a:r>
            <a:endParaRPr lang="en-US" sz="1350" b="0" i="0" u="none" strike="noStrike" cap="none">
              <a:solidFill>
                <a:srgbClr val="007B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2286000" y="2428875"/>
            <a:ext cx="8096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Proakis, J. G.</a:t>
            </a:r>
            <a:r>
              <a:rPr lang="en-US" sz="13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</a:t>
            </a:r>
            <a:r>
              <a:rPr lang="en-US" sz="1350" b="0" i="1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Digital Communications</a:t>
            </a:r>
            <a:r>
              <a:rPr lang="en-US" sz="13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5th Edition.</a:t>
            </a:r>
            <a:endParaRPr lang="en-US" sz="13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2286000" y="2924175"/>
            <a:ext cx="8096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Goldsmith, A.</a:t>
            </a:r>
            <a:r>
              <a:rPr lang="en-US" sz="13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</a:t>
            </a:r>
            <a:r>
              <a:rPr lang="en-US" sz="1350" b="0" i="1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Wireless Communications</a:t>
            </a:r>
            <a:r>
              <a:rPr lang="en-US" sz="13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Cambridge University Press.</a:t>
            </a:r>
            <a:endParaRPr lang="en-US" sz="13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2286000" y="3419475"/>
            <a:ext cx="8096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MATLAB Documentation</a:t>
            </a:r>
            <a:r>
              <a:rPr lang="en-US" sz="1350" b="0" i="0" u="none" strike="noStrike" cap="none">
                <a:solidFill>
                  <a:srgbClr val="44444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Signal Processing &amp; Communications Toolboxes.</a:t>
            </a:r>
            <a:endParaRPr lang="en-US" sz="1350" b="0" i="0" u="none" strike="noStrike" cap="none">
              <a:solidFill>
                <a:srgbClr val="444444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334" name="Google Shape;334;p3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24288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29241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3419475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4510</Words>
  <Application>WPS Presentation</Application>
  <PresentationFormat/>
  <Paragraphs>210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Poppins</vt:lpstr>
      <vt:lpstr>Lato</vt:lpstr>
      <vt:lpstr>Poppins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عاصم أحمد فلاح خضر</cp:lastModifiedBy>
  <cp:revision>1</cp:revision>
  <dcterms:created xsi:type="dcterms:W3CDTF">2026-04-17T16:13:20Z</dcterms:created>
  <dcterms:modified xsi:type="dcterms:W3CDTF">2026-04-17T16:13:21Z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A2DCBE965CB741E08B1373C56E581B62_13</vt:lpwstr>
  </property>
  <property fmtid="{D5CDD505-2E9C-101B-9397-08002B2CF9AE}" pid="3" name="KSOProductBuildVer">
    <vt:lpwstr>1033-12.1.0.25830</vt:lpwstr>
  </property>
</Properties>
</file>